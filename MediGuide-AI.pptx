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582069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MediGuide AI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61475" y="3571974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Symptom Assessment &amp; Patient Guidance Assistant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LangChain, OpenAI, and Streamlit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56220"/>
            <a:ext cx="6296860" cy="116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spc="-35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Safety First: Educational Use Only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20577"/>
            <a:ext cx="6296860" cy="10932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072" y="2096095"/>
            <a:ext cx="5869634" cy="2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Educational Prototype Only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485072" y="2466280"/>
            <a:ext cx="586963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This is an educational AI prototype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not a medical device or diagnostic tool.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43448"/>
            <a:ext cx="6296860" cy="10932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72" y="3318966"/>
            <a:ext cx="5869634" cy="2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Not a Medical Replacement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5485072" y="3689152"/>
            <a:ext cx="586963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 a replacement for licensed medical professionals.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All outputs are preliminary guidance only.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366320"/>
            <a:ext cx="6296860" cy="10932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5072" y="4541837"/>
            <a:ext cx="5869634" cy="2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Always Consult a Doctor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5485072" y="4912023"/>
            <a:ext cx="586963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medical decision must involve a qualified physician. Emergency symptoms require </a:t>
            </a:r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immediate professional care.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233360" y="5605363"/>
            <a:ext cx="6296860" cy="696416"/>
          </a:xfrm>
          <a:prstGeom prst="roundRect">
            <a:avLst>
              <a:gd name="adj" fmla="val 9440"/>
            </a:avLst>
          </a:prstGeom>
          <a:solidFill>
            <a:srgbClr val="FFB3B4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9825" y="5774035"/>
            <a:ext cx="195654" cy="156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41943" y="5774035"/>
            <a:ext cx="563181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symptoms require immediate professional care — always call emergency services when in doubt.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268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Bridging Health and AI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1799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254945"/>
            <a:ext cx="1512354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5" name="Text 2"/>
          <p:cNvSpPr/>
          <p:nvPr/>
        </p:nvSpPr>
        <p:spPr>
          <a:xfrm>
            <a:off x="4746605" y="2311598"/>
            <a:ext cx="18951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VISION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33201" y="2617688"/>
            <a:ext cx="690326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Demonstrating Safe LLM Integration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633201" y="3159919"/>
            <a:ext cx="6903269" cy="2475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Vision: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Demonstrate how LLMs safely gather health information and provide structured preliminary guidance.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Educational Goal: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Show best practices for integrating AI into healthcare workflows — responsibly and transparently.</a:t>
            </a:r>
            <a:endParaRPr lang="en-US" sz="1450" dirty="0"/>
          </a:p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Principle:</a:t>
            </a:r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Keep human doctors in the loop — AI augments, never replaces.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Initial symptom assessment and patient education before professional consultation.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7230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Seamless Patient Experience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2356148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Patient Data Collection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1475" y="2898378"/>
            <a:ext cx="5203794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Age, gender, symptoms, severity, medical history, and current conditions — all gathered through an intuitive interface with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multi-language support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English, Urdu, Arabic, Spanish, and more.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70052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Urgency Level Indicators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4612283"/>
            <a:ext cx="520379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Color-coded assessments guide patients to the right level of care: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2379762"/>
            <a:ext cx="2507394" cy="1449685"/>
          </a:xfrm>
          <a:prstGeom prst="roundRect">
            <a:avLst>
              <a:gd name="adj" fmla="val 5476"/>
            </a:avLst>
          </a:prstGeom>
          <a:solidFill>
            <a:srgbClr val="FFFFF4"/>
          </a:solidFill>
          <a:ln w="19050">
            <a:solidFill>
              <a:srgbClr val="00A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0832" y="2587823"/>
            <a:ext cx="209128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🟢</a:t>
            </a:r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LOW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40832" y="3130054"/>
            <a:ext cx="209128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at home, routine care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176" y="2379762"/>
            <a:ext cx="2507394" cy="1449685"/>
          </a:xfrm>
          <a:prstGeom prst="roundRect">
            <a:avLst>
              <a:gd name="adj" fmla="val 5476"/>
            </a:avLst>
          </a:prstGeom>
          <a:solidFill>
            <a:srgbClr val="FFFFF4"/>
          </a:solidFill>
          <a:ln w="19050">
            <a:solidFill>
              <a:srgbClr val="CC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7233" y="2587823"/>
            <a:ext cx="209128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🟡</a:t>
            </a:r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MEDIUM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237233" y="3130054"/>
            <a:ext cx="209128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appointment soon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32776" y="4018459"/>
            <a:ext cx="2507394" cy="1449685"/>
          </a:xfrm>
          <a:prstGeom prst="roundRect">
            <a:avLst>
              <a:gd name="adj" fmla="val 5476"/>
            </a:avLst>
          </a:prstGeom>
          <a:solidFill>
            <a:srgbClr val="FFFFF4"/>
          </a:solidFill>
          <a:ln w="19050">
            <a:solidFill>
              <a:srgbClr val="CC3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0832" y="4226520"/>
            <a:ext cx="209128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🔴</a:t>
            </a:r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HIGH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40832" y="4768751"/>
            <a:ext cx="209128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Seek care within hours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029176" y="4018459"/>
            <a:ext cx="2507394" cy="1449685"/>
          </a:xfrm>
          <a:prstGeom prst="roundRect">
            <a:avLst>
              <a:gd name="adj" fmla="val 5476"/>
            </a:avLst>
          </a:prstGeom>
          <a:solidFill>
            <a:srgbClr val="FFFFF4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7233" y="4226520"/>
            <a:ext cx="209128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⚫</a:t>
            </a:r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EMERGENCY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7233" y="4768751"/>
            <a:ext cx="209128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emergency services immediately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630"/>
            <a:ext cx="10868745" cy="6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spc="-4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Under the Hood: Technical Architecture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24099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483731"/>
            <a:ext cx="1586822" cy="36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LLMChain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36215" y="4300998"/>
            <a:ext cx="1586822" cy="73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Select Cache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47253" y="4300998"/>
            <a:ext cx="1586822" cy="73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Build Prompt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358291" y="4483731"/>
            <a:ext cx="1586822" cy="36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Validate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25854" y="4483731"/>
            <a:ext cx="1586822" cy="36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spc="-2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Form Input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1475" y="5658842"/>
            <a:ext cx="10868745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full pipeline — from patient form submission to live dashboard rendering — is powered by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Python, Streamlit, LangChain, and OpenAI GPT-4o-mini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ensuring data integrity, cost efficiency, and a responsive user experience at every step.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23391"/>
            <a:ext cx="6296860" cy="12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spc="-3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Powering the AI Logic: LangChain Concepts (Part 1)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06513"/>
            <a:ext cx="3073422" cy="229939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9020" y="2258020"/>
            <a:ext cx="202004" cy="20200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20681" y="2779812"/>
            <a:ext cx="2698782" cy="31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ChatOpenAI</a:t>
            </a:r>
            <a:endParaRPr lang="en-US" sz="1900" dirty="0"/>
          </a:p>
        </p:txBody>
      </p:sp>
      <p:sp>
        <p:nvSpPr>
          <p:cNvPr id="7" name="Text 2"/>
          <p:cNvSpPr/>
          <p:nvPr/>
        </p:nvSpPr>
        <p:spPr>
          <a:xfrm>
            <a:off x="5420681" y="3184227"/>
            <a:ext cx="2698782" cy="827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Integrates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GPT-4o-mini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reliable, fast natural language processing and medical reasoning.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6699" y="2106513"/>
            <a:ext cx="3073522" cy="2299395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2457" y="2258020"/>
            <a:ext cx="202004" cy="202009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644019" y="2779812"/>
            <a:ext cx="2698881" cy="31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Prompt Templates</a:t>
            </a:r>
            <a:endParaRPr lang="en-US" sz="1900" dirty="0"/>
          </a:p>
        </p:txBody>
      </p:sp>
      <p:sp>
        <p:nvSpPr>
          <p:cNvPr id="11" name="Text 4"/>
          <p:cNvSpPr/>
          <p:nvPr/>
        </p:nvSpPr>
        <p:spPr>
          <a:xfrm>
            <a:off x="8644019" y="3184227"/>
            <a:ext cx="2698881" cy="1034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structures with distinct roles: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Message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(AI behavior &amp; safety),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Message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(patient input), and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Message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(structured response).</a:t>
            </a:r>
            <a:endParaRPr lang="en-US" sz="1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4555827"/>
            <a:ext cx="6296860" cy="1678781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80788" y="4707334"/>
            <a:ext cx="202004" cy="202009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420681" y="5229126"/>
            <a:ext cx="5922219" cy="31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LLMChain</a:t>
            </a:r>
            <a:endParaRPr lang="en-US" sz="1900" dirty="0"/>
          </a:p>
        </p:txBody>
      </p:sp>
      <p:sp>
        <p:nvSpPr>
          <p:cNvPr id="15" name="Text 6"/>
          <p:cNvSpPr/>
          <p:nvPr/>
        </p:nvSpPr>
        <p:spPr>
          <a:xfrm>
            <a:off x="5420681" y="5633541"/>
            <a:ext cx="5922219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pipeline combining prompt templates with the language model for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consistent, reliable outputs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every time.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Ensuring Performance &amp; Reliability: LangChain Concepts (Part 2)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96950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042444"/>
            <a:ext cx="531908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-1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Structured JSON Output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17487" y="3266182"/>
            <a:ext cx="5319083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Forces the LLM to return </a:t>
            </a:r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safe, validated, machine-readable data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accurate dashboard rendering — no ambiguous free-text responses.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217487" y="3497759"/>
            <a:ext cx="531908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-1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Caching Mechanisms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17487" y="3721497"/>
            <a:ext cx="5319083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InMemory Cache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Fast RAM-based caching for identical requests within a session.</a:t>
            </a:r>
            <a:endParaRPr lang="en-US" sz="70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SQLite Cache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Persistent disk-based caching across sessions, reducing API costs and latency.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3953073"/>
            <a:ext cx="531908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-1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487" y="4176812"/>
            <a:ext cx="5928668" cy="98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the 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.stream()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method for a </a:t>
            </a:r>
            <a:pPr algn="l" indent="0" marL="0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typing effect</a:t>
            </a:r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improving perceived responsiveness and user engagement.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5100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Designing for Medical Safety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61475" y="25195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2578596"/>
            <a:ext cx="470195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Prompt Guardrails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75723" y="3045222"/>
            <a:ext cx="470195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Explicitly instructs the AI to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never diagnose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only assess and guide. Safety constraints are baked into every prompt.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3915" y="25195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8163" y="2578596"/>
            <a:ext cx="470205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Emergency Protocols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28163" y="3045222"/>
            <a:ext cx="470205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Detects severe symptoms (chest pain, difficulty breathing) and immediately escalates to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EMERGENCY urgency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"Call 911" messaging.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6024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723" y="4219277"/>
            <a:ext cx="4701958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Per-Condition Disclaimers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75723" y="4685903"/>
            <a:ext cx="470195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 all outputs as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possibilities and educational information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never as medical facts or diagnoses.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3915" y="416024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8163" y="4219277"/>
            <a:ext cx="470205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Input &amp; Output Filtering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8163" y="4685903"/>
            <a:ext cx="470205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 Validation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rejects incomplete or suspicious data.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 Filtering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removes any language that could be misinterpreted as medical advice.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455"/>
            <a:ext cx="10868745" cy="463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spc="-2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Proving the Concept: Testing &amp;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1475" y="3112393"/>
            <a:ext cx="6958731" cy="1218704"/>
          </a:xfrm>
          <a:prstGeom prst="roundRect">
            <a:avLst>
              <a:gd name="adj" fmla="val 4275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175" y="3125093"/>
            <a:ext cx="2311045" cy="1193304"/>
          </a:xfrm>
          <a:custGeom>
            <a:avLst/>
            <a:gdLst/>
            <a:ahLst/>
            <a:cxnLst/>
            <a:rect l="l" t="t" r="r" b="b"/>
            <a:pathLst>
              <a:path w="2311045" h="1193304">
                <a:moveTo>
                  <a:pt x="43415" y="0"/>
                </a:moveTo>
                <a:lnTo>
                  <a:pt x="2311045" y="0"/>
                </a:lnTo>
                <a:lnTo>
                  <a:pt x="2311045" y="1193304"/>
                </a:lnTo>
                <a:lnTo>
                  <a:pt x="43415" y="1193304"/>
                </a:lnTo>
                <a:arcTo hR="43416" wR="43415" stAng="5400000" swAng="5400000"/>
                <a:lnTo>
                  <a:pt x="0" y="43416"/>
                </a:lnTo>
                <a:arcTo hR="43416" wR="43415" stAng="10800000" swAng="5400000"/>
                <a:close/>
              </a:path>
            </a:pathLst>
          </a:custGeom>
          <a:solidFill>
            <a:srgbClr val="00AA66"/>
          </a:solidFill>
          <a:ln/>
        </p:spPr>
      </p:sp>
      <p:sp>
        <p:nvSpPr>
          <p:cNvPr id="5" name="Text 3"/>
          <p:cNvSpPr/>
          <p:nvPr/>
        </p:nvSpPr>
        <p:spPr>
          <a:xfrm>
            <a:off x="798195" y="3249116"/>
            <a:ext cx="2063004" cy="231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🟢</a:t>
            </a:r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Mild Cold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8195" y="3562251"/>
            <a:ext cx="2063004" cy="400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Cough, sore throat, low fever →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urgency</a:t>
            </a:r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home care, monitor for 7 days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85219" y="3125093"/>
            <a:ext cx="2311144" cy="1193304"/>
          </a:xfrm>
          <a:prstGeom prst="rect">
            <a:avLst/>
          </a:prstGeom>
          <a:solidFill>
            <a:srgbClr val="CC3300"/>
          </a:solidFill>
          <a:ln/>
        </p:spPr>
      </p:sp>
      <p:sp>
        <p:nvSpPr>
          <p:cNvPr id="8" name="Shape 6"/>
          <p:cNvSpPr/>
          <p:nvPr/>
        </p:nvSpPr>
        <p:spPr>
          <a:xfrm>
            <a:off x="2985219" y="3125093"/>
            <a:ext cx="12700" cy="1193304"/>
          </a:xfrm>
          <a:prstGeom prst="roundRect">
            <a:avLst>
              <a:gd name="adj" fmla="val 49999"/>
            </a:avLst>
          </a:prstGeom>
          <a:solidFill>
            <a:srgbClr val="E54C19"/>
          </a:solidFill>
          <a:ln/>
        </p:spPr>
      </p:sp>
      <p:sp>
        <p:nvSpPr>
          <p:cNvPr id="9" name="Text 7"/>
          <p:cNvSpPr/>
          <p:nvPr/>
        </p:nvSpPr>
        <p:spPr>
          <a:xfrm>
            <a:off x="3109239" y="3249116"/>
            <a:ext cx="206310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⚫</a:t>
            </a:r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Severe Chest Pain Scenario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9239" y="3794026"/>
            <a:ext cx="2063103" cy="400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Acute chest pain, shortness of breath →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EMERGENCY urgency</a:t>
            </a:r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immediate "Call 911"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96363" y="3125093"/>
            <a:ext cx="2311144" cy="1193304"/>
          </a:xfrm>
          <a:custGeom>
            <a:avLst/>
            <a:gdLst/>
            <a:ahLst/>
            <a:cxnLst/>
            <a:rect l="l" t="t" r="r" b="b"/>
            <a:pathLst>
              <a:path w="2311144" h="1193304">
                <a:moveTo>
                  <a:pt x="0" y="0"/>
                </a:moveTo>
                <a:lnTo>
                  <a:pt x="2267729" y="0"/>
                </a:lnTo>
                <a:arcTo hR="43416" wR="43415" stAng="16200000" swAng="5400000"/>
                <a:lnTo>
                  <a:pt x="2311144" y="1149888"/>
                </a:lnTo>
                <a:arcTo hR="43416" wR="43415" stAng="0" swAng="5400000"/>
                <a:lnTo>
                  <a:pt x="0" y="1193304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/>
        </p:spPr>
      </p:sp>
      <p:sp>
        <p:nvSpPr>
          <p:cNvPr id="12" name="Shape 10"/>
          <p:cNvSpPr/>
          <p:nvPr/>
        </p:nvSpPr>
        <p:spPr>
          <a:xfrm>
            <a:off x="5296363" y="3125093"/>
            <a:ext cx="12700" cy="1193304"/>
          </a:xfrm>
          <a:prstGeom prst="roundRect">
            <a:avLst>
              <a:gd name="adj" fmla="val 49999"/>
            </a:avLst>
          </a:prstGeom>
          <a:solidFill>
            <a:srgbClr val="197FE5"/>
          </a:solidFill>
          <a:ln/>
        </p:spPr>
      </p:sp>
      <p:sp>
        <p:nvSpPr>
          <p:cNvPr id="13" name="Text 11"/>
          <p:cNvSpPr/>
          <p:nvPr/>
        </p:nvSpPr>
        <p:spPr>
          <a:xfrm>
            <a:off x="5420383" y="3249116"/>
            <a:ext cx="206310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🟡</a:t>
            </a:r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Chronic Condition Scenario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20383" y="3794026"/>
            <a:ext cx="2063103" cy="400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Diabetes + elevated blood sugar →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MEDIUM urgency</a:t>
            </a:r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schedule appointment, medication review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9166" y="1203623"/>
            <a:ext cx="3607305" cy="36073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29166" y="4902597"/>
            <a:ext cx="3607305" cy="231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-14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Edge Cases &amp; Results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29166" y="5215731"/>
            <a:ext cx="3607305" cy="457299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rmAutofit/>
          </a:bodyPr>
          <a:lstStyle/>
          <a:p>
            <a:pPr algn="l" marL="193040" indent="-193040">
              <a:lnSpc>
                <a:spcPct val="90000"/>
              </a:lnSpc>
              <a:buSzPct val="100000"/>
              <a:buChar char="•"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Empty symptom handling validated</a:t>
            </a:r>
            <a:endParaRPr lang="en-US" sz="950" dirty="0"/>
          </a:p>
          <a:p>
            <a:pPr algn="l" marL="193040" indent="-193040">
              <a:lnSpc>
                <a:spcPct val="90000"/>
              </a:lnSpc>
              <a:buSzPct val="100000"/>
              <a:buChar char="•"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Multi-language accuracy confirmed</a:t>
            </a:r>
            <a:endParaRPr lang="en-US" sz="950" dirty="0"/>
          </a:p>
          <a:p>
            <a:pPr algn="l" marL="193040" indent="-193040">
              <a:lnSpc>
                <a:spcPct val="90000"/>
              </a:lnSpc>
              <a:buSzPct val="100000"/>
              <a:buChar char="•"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 performance benchmarked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929166" y="5764609"/>
            <a:ext cx="3607305" cy="475258"/>
          </a:xfrm>
          <a:prstGeom prst="roundRect">
            <a:avLst>
              <a:gd name="adj" fmla="val 10962"/>
            </a:avLst>
          </a:prstGeom>
          <a:solidFill>
            <a:srgbClr val="B6FCB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186" y="5876925"/>
            <a:ext cx="154976" cy="12402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32182" y="5868789"/>
            <a:ext cx="3080268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tests pass with safe, appropriate guidance and proper escalation across every scenario.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64778"/>
            <a:ext cx="6296860" cy="60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50" spc="-37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Future of AI in Healthcare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81249"/>
            <a:ext cx="324834" cy="3248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32617" y="1631950"/>
            <a:ext cx="5797603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Success Demonstrated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732617" y="2019102"/>
            <a:ext cx="5797603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MediGuide AI proves that LLMs can safely integrate into healthcare workflows with proper guardrails in place.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690713"/>
            <a:ext cx="324834" cy="3248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32617" y="2741414"/>
            <a:ext cx="5797603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732617" y="3128566"/>
            <a:ext cx="5797603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excels at gathering information and providing preliminary guidance — but </a:t>
            </a:r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doctors remain essential</a:t>
            </a:r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diagnosis and treatment.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800177"/>
            <a:ext cx="324834" cy="3248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32617" y="3850878"/>
            <a:ext cx="5797603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732617" y="4238030"/>
            <a:ext cx="5797603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EHR system integration, real-time specialist routing, and multi-modal symptom analysis (voice, images).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909641"/>
            <a:ext cx="324834" cy="3248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32617" y="4960342"/>
            <a:ext cx="5797603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Our Commitment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732617" y="5347494"/>
            <a:ext cx="5797603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keep </a:t>
            </a:r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expertise at the center</a:t>
            </a:r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healthcare AI — technology serves people, not the other way around.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4928568" y="5896967"/>
            <a:ext cx="6906444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you. 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2026-08-24T13:38:32Z</dcterms:created>
  <dcterms:modified xsi:type="dcterms:W3CDTF">2026-08-24T13:38:32Z</dcterms:modified>
</cp:coreProperties>
</file>